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81818"/>
                </a:solidFill>
                <a:latin typeface="Arial"/>
              </a:defRPr>
            </a:pPr>
            <a:r>
              <a:t>THE TURING CLUB</a:t>
            </a:r>
          </a:p>
          <a:p>
            <a:pPr>
              <a:defRPr sz="1100" b="1">
                <a:solidFill>
                  <a:srgbClr val="EE522B"/>
                </a:solidFill>
                <a:latin typeface="Arial"/>
              </a:defRPr>
            </a:pPr>
            <a:r>
              <a:t>FRONTEND UI/UX COMPETITION</a:t>
            </a:r>
          </a:p>
        </p:txBody>
      </p:sp>
      <p:pic>
        <p:nvPicPr>
          <p:cNvPr id="4" name="Picture 3" descr="arch_st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0"/>
            <a:ext cx="478505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64008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4600" b="1">
                <a:solidFill>
                  <a:srgbClr val="181818"/>
                </a:solidFill>
                <a:latin typeface="Arial Black"/>
              </a:defRPr>
            </a:pPr>
            <a:r>
              <a:t>ROUND 2 —</a:t>
            </a:r>
          </a:p>
          <a:p>
            <a:pPr>
              <a:spcAft>
                <a:spcPts val="0"/>
              </a:spcAft>
              <a:defRPr sz="4600" b="1">
                <a:solidFill>
                  <a:srgbClr val="181818"/>
                </a:solidFill>
                <a:latin typeface="Arial Black"/>
              </a:defRPr>
            </a:pPr>
            <a:r>
              <a:t>FRONTEND</a:t>
            </a:r>
          </a:p>
          <a:p>
            <a:pPr>
              <a:spcAft>
                <a:spcPts val="0"/>
              </a:spcAft>
              <a:defRPr sz="4600" b="1">
                <a:solidFill>
                  <a:srgbClr val="181818"/>
                </a:solidFill>
                <a:latin typeface="Arial Black"/>
              </a:defRPr>
            </a:pPr>
            <a:r>
              <a:t>UI/UX</a:t>
            </a:r>
          </a:p>
          <a:p>
            <a:pPr>
              <a:spcAft>
                <a:spcPts val="0"/>
              </a:spcAft>
              <a:defRPr sz="4600" b="1">
                <a:solidFill>
                  <a:srgbClr val="181818"/>
                </a:solidFill>
                <a:latin typeface="Arial Black"/>
              </a:defRPr>
            </a:pPr>
            <a:r>
              <a:t>COMPETITION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43400"/>
            <a:ext cx="6217920" cy="1828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64008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E522B"/>
                </a:solidFill>
                <a:latin typeface="Arial"/>
              </a:defRPr>
            </a:pPr>
            <a:r>
              <a:t>TEAM NAME</a:t>
            </a:r>
          </a:p>
          <a:p>
            <a:pPr>
              <a:spcAft>
                <a:spcPts val="1400"/>
              </a:spcAft>
              <a:defRPr sz="2000" b="1">
                <a:solidFill>
                  <a:srgbClr val="181818"/>
                </a:solidFill>
                <a:latin typeface="Arial"/>
              </a:defRPr>
            </a:pPr>
            <a:r>
              <a:t>SHARK-025</a:t>
            </a:r>
          </a:p>
          <a:p>
            <a:pPr>
              <a:defRPr sz="1100" b="1">
                <a:solidFill>
                  <a:srgbClr val="EE522B"/>
                </a:solidFill>
                <a:latin typeface="Arial"/>
              </a:defRPr>
            </a:pPr>
            <a:r>
              <a:t>PROJECT TITLE</a:t>
            </a:r>
          </a:p>
          <a:p>
            <a:pPr>
              <a:defRPr sz="2000" b="1">
                <a:solidFill>
                  <a:srgbClr val="181818"/>
                </a:solidFill>
                <a:latin typeface="Arial"/>
              </a:defRPr>
            </a:pPr>
            <a:r>
              <a:t>MEDIBLOOM — Health That Grows Daily</a:t>
            </a:r>
          </a:p>
          <a:p>
            <a:pPr>
              <a:defRPr sz="1200">
                <a:solidFill>
                  <a:srgbClr val="646464"/>
                </a:solidFill>
                <a:latin typeface="Arial"/>
              </a:defRPr>
            </a:pPr>
            <a:r>
              <a:t>Accessible Healthcare, Medication Companion &amp; Doctor Booking for Seniors (55+) &amp; Families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81818"/>
                </a:solidFill>
                <a:latin typeface="Arial"/>
              </a:defRPr>
            </a:pPr>
            <a:r>
              <a:t>THE TURING CLUB</a:t>
            </a:r>
          </a:p>
          <a:p>
            <a:pPr>
              <a:defRPr sz="1100" b="1">
                <a:solidFill>
                  <a:srgbClr val="EE522B"/>
                </a:solidFill>
                <a:latin typeface="Arial"/>
              </a:defRPr>
            </a:pPr>
            <a:r>
              <a:t>FRONTEND UI/UX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81818"/>
                </a:solidFill>
                <a:latin typeface="Arial Black"/>
              </a:defRPr>
            </a:pPr>
            <a:r>
              <a:t>TOOLS</a:t>
            </a:r>
          </a:p>
          <a:p>
            <a:pPr>
              <a:defRPr sz="3600" b="1">
                <a:solidFill>
                  <a:srgbClr val="181818"/>
                </a:solidFill>
                <a:latin typeface="Arial Black"/>
              </a:defRPr>
            </a:pPr>
            <a:r>
              <a:t>&amp;</a:t>
            </a:r>
          </a:p>
          <a:p>
            <a:pPr>
              <a:defRPr sz="3600" b="1">
                <a:solidFill>
                  <a:srgbClr val="181818"/>
                </a:solidFill>
                <a:latin typeface="Arial Black"/>
              </a:defRPr>
            </a:pPr>
            <a:r>
              <a:t>TECHN</a:t>
            </a:r>
          </a:p>
          <a:p>
            <a:pPr>
              <a:defRPr sz="3600" b="1">
                <a:solidFill>
                  <a:srgbClr val="181818"/>
                </a:solidFill>
                <a:latin typeface="Arial Black"/>
              </a:defRPr>
            </a:pPr>
            <a:r>
              <a:t>OLOGI</a:t>
            </a:r>
          </a:p>
          <a:p>
            <a:pPr>
              <a:defRPr sz="3600" b="1">
                <a:solidFill>
                  <a:srgbClr val="181818"/>
                </a:solidFill>
                <a:latin typeface="Arial Black"/>
              </a:defRPr>
            </a:pPr>
            <a:r>
              <a:t>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77639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rial"/>
              </a:defRPr>
            </a:pPr>
            <a:r>
              <a:t>A modern, reliable stack that helps us build fast, deliver seamless experiences, and scale with confidence.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502920"/>
          <a:ext cx="53035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74720"/>
              </a:tblGrid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E522B"/>
                          </a:solidFill>
                          <a:latin typeface="Arial"/>
                        </a:defRPr>
                      </a:pPr>
                      <a:r>
                        <a:t>FRONTEND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181818"/>
                          </a:solidFill>
                          <a:latin typeface="Arial"/>
                        </a:defRPr>
                      </a:pPr>
                      <a:r>
                        <a:t>HTML5 Semantic Architecture</a:t>
                      </a:r>
                    </a:p>
                    <a:p>
                      <a:pPr>
                        <a:defRPr sz="1100" b="0">
                          <a:solidFill>
                            <a:srgbClr val="181818"/>
                          </a:solidFill>
                          <a:latin typeface="Arial"/>
                        </a:defRPr>
                      </a:pPr>
                      <a:r>
                        <a:t>CSS3 (Custom Design Tokens, Calm Motion)</a:t>
                      </a:r>
                    </a:p>
                    <a:p>
                      <a:pPr>
                        <a:defRPr sz="1100" b="0">
                          <a:solidFill>
                            <a:srgbClr val="181818"/>
                          </a:solidFill>
                          <a:latin typeface="Arial"/>
                        </a:defRPr>
                      </a:pPr>
                      <a:r>
                        <a:t>Vanilla JavaScript (ES6+)</a:t>
                      </a:r>
                    </a:p>
                    <a:p>
                      <a:pPr>
                        <a:defRPr sz="1100" b="0">
                          <a:solidFill>
                            <a:srgbClr val="181818"/>
                          </a:solidFill>
                          <a:latin typeface="Arial"/>
                        </a:defRPr>
                      </a:pPr>
                      <a:r>
                        <a:t>Web SpeechSynthesis API</a:t>
                      </a:r>
                    </a:p>
                    <a:p>
                      <a:pPr>
                        <a:defRPr sz="1100" b="0">
                          <a:solidFill>
                            <a:srgbClr val="181818"/>
                          </a:solidFill>
                          <a:latin typeface="Arial"/>
                        </a:defRPr>
                      </a:pPr>
                      <a:r>
                        <a:t>LocalStorage State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E522B"/>
                          </a:solidFill>
                          <a:latin typeface="Arial"/>
                        </a:defRPr>
                      </a:pPr>
                      <a:r>
                        <a:t>TOOLS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181818"/>
                          </a:solidFill>
                          <a:latin typeface="Arial"/>
                        </a:defRPr>
                      </a:pPr>
                      <a:r>
                        <a:t>Visual Studio Code</a:t>
                      </a:r>
                    </a:p>
                    <a:p>
                      <a:pPr>
                        <a:defRPr sz="1100" b="0">
                          <a:solidFill>
                            <a:srgbClr val="181818"/>
                          </a:solidFill>
                          <a:latin typeface="Arial"/>
                        </a:defRPr>
                      </a:pPr>
                      <a:r>
                        <a:t>Git &amp; GitHub Version Control</a:t>
                      </a:r>
                    </a:p>
                    <a:p>
                      <a:pPr>
                        <a:defRPr sz="1100" b="0">
                          <a:solidFill>
                            <a:srgbClr val="181818"/>
                          </a:solidFill>
                          <a:latin typeface="Arial"/>
                        </a:defRPr>
                      </a:pPr>
                      <a:r>
                        <a:t>Chrome DevTools &amp; Accessibility Inspector</a:t>
                      </a:r>
                    </a:p>
                    <a:p>
                      <a:pPr>
                        <a:defRPr sz="1100" b="0">
                          <a:solidFill>
                            <a:srgbClr val="181818"/>
                          </a:solidFill>
                          <a:latin typeface="Arial"/>
                        </a:defRPr>
                      </a:pPr>
                      <a:r>
                        <a:t>PowerShell Automation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E522B"/>
                          </a:solidFill>
                          <a:latin typeface="Arial"/>
                        </a:defRPr>
                      </a:pPr>
                      <a:r>
                        <a:t>AI MODELS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181818"/>
                          </a:solidFill>
                          <a:latin typeface="Arial"/>
                        </a:defRPr>
                      </a:pPr>
                      <a:r>
                        <a:t>Google Antigravity Agentic IDE</a:t>
                      </a:r>
                    </a:p>
                    <a:p>
                      <a:pPr>
                        <a:defRPr sz="1100" b="0">
                          <a:solidFill>
                            <a:srgbClr val="181818"/>
                          </a:solidFill>
                          <a:latin typeface="Arial"/>
                        </a:defRPr>
                      </a:pPr>
                      <a:r>
                        <a:t>Gemini 2.5 Flash Architecture</a:t>
                      </a:r>
                    </a:p>
                    <a:p>
                      <a:pPr>
                        <a:defRPr sz="1100" b="0">
                          <a:solidFill>
                            <a:srgbClr val="181818"/>
                          </a:solidFill>
                          <a:latin typeface="Arial"/>
                        </a:defRPr>
                      </a:pPr>
                      <a:r>
                        <a:t>Pair Programming &amp; UI Verification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E522B"/>
                          </a:solidFill>
                          <a:latin typeface="Arial"/>
                        </a:defRPr>
                      </a:pPr>
                      <a:r>
                        <a:t>DESIGN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181818"/>
                          </a:solidFill>
                          <a:latin typeface="Arial"/>
                        </a:defRPr>
                      </a:pPr>
                      <a:r>
                        <a:t>WCAG 2.1 AA Accessibility Standards</a:t>
                      </a:r>
                    </a:p>
                    <a:p>
                      <a:pPr>
                        <a:defRPr sz="1100" b="0">
                          <a:solidFill>
                            <a:srgbClr val="181818"/>
                          </a:solidFill>
                          <a:latin typeface="Arial"/>
                        </a:defRPr>
                      </a:pPr>
                      <a:r>
                        <a:t>Calm Motion UI (Respects reduced-motion)</a:t>
                      </a:r>
                    </a:p>
                    <a:p>
                      <a:pPr>
                        <a:defRPr sz="1100" b="0">
                          <a:solidFill>
                            <a:srgbClr val="181818"/>
                          </a:solidFill>
                          <a:latin typeface="Arial"/>
                        </a:defRPr>
                      </a:pPr>
                      <a:r>
                        <a:t>High-Contrast Theming (Dark/Light Mode)</a:t>
                      </a:r>
                    </a:p>
                    <a:p>
                      <a:pPr>
                        <a:defRPr sz="1100" b="0">
                          <a:solidFill>
                            <a:srgbClr val="181818"/>
                          </a:solidFill>
                          <a:latin typeface="Arial"/>
                        </a:defRPr>
                      </a:pPr>
                      <a:r>
                        <a:t>Dynamic Font Scaler (A, A+, A++)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E522B"/>
                          </a:solidFill>
                          <a:latin typeface="Arial"/>
                        </a:defRPr>
                      </a:pPr>
                      <a:r>
                        <a:t>DEPLOYMENT</a:t>
                      </a:r>
                    </a:p>
                  </a:txBody>
                  <a:tcPr anchor="ctr">
                    <a:solidFill>
                      <a:srgbClr val="FC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181818"/>
                          </a:solidFill>
                          <a:latin typeface="Arial"/>
                        </a:defRPr>
                      </a:pPr>
                      <a:r>
                        <a:t>Vercel Global Edge Network</a:t>
                      </a:r>
                    </a:p>
                    <a:p>
                      <a:pPr>
                        <a:defRPr sz="1100" b="0">
                          <a:solidFill>
                            <a:srgbClr val="181818"/>
                          </a:solidFill>
                          <a:latin typeface="Arial"/>
                        </a:defRPr>
                      </a:pPr>
                      <a:r>
                        <a:t>GitHub Repository (SHARK-025/Medibloom)</a:t>
                      </a:r>
                    </a:p>
                    <a:p>
                      <a:pPr>
                        <a:defRPr sz="1100" b="0">
                          <a:solidFill>
                            <a:srgbClr val="181818"/>
                          </a:solidFill>
                          <a:latin typeface="Arial"/>
                        </a:defRPr>
                      </a:pPr>
                      <a:r>
                        <a:t>Continuous Deployment &amp; Zero-Config Hosting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5120640"/>
            <a:ext cx="10789920" cy="1371600"/>
          </a:xfrm>
          <a:prstGeom prst="rect">
            <a:avLst/>
          </a:prstGeom>
          <a:solidFill>
            <a:srgbClr val="FCFAF7"/>
          </a:solidFill>
          <a:ln>
            <a:solidFill>
              <a:srgbClr val="DA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81818"/>
                </a:solidFill>
                <a:latin typeface="Arial Black"/>
              </a:defRPr>
            </a:pPr>
            <a:r>
              <a:t>WHY</a:t>
            </a:r>
          </a:p>
          <a:p>
            <a:pPr>
              <a:defRPr sz="2200" b="1">
                <a:solidFill>
                  <a:srgbClr val="181818"/>
                </a:solidFill>
                <a:latin typeface="Arial Black"/>
              </a:defRPr>
            </a:pPr>
            <a:r>
              <a:t>THIS</a:t>
            </a:r>
          </a:p>
          <a:p>
            <a:pPr>
              <a:defRPr sz="2200" b="1">
                <a:solidFill>
                  <a:srgbClr val="EE522B"/>
                </a:solidFill>
                <a:latin typeface="Arial Black"/>
              </a:defRPr>
            </a:pPr>
            <a:r>
              <a:t>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5285232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81818"/>
                </a:solidFill>
                <a:latin typeface="Arial"/>
              </a:defRPr>
            </a:pPr>
            <a:r>
              <a:t>Accelerates development</a:t>
            </a:r>
          </a:p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Zero-framework, zero-build lightweight architecture with vanilla ES6+ for instant velocity and zero tooling fragility.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5303520"/>
            <a:ext cx="13716" cy="1005840"/>
          </a:xfrm>
          <a:prstGeom prst="rect">
            <a:avLst/>
          </a:prstGeom>
          <a:solidFill>
            <a:srgbClr val="DA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5285232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81818"/>
                </a:solidFill>
                <a:latin typeface="Arial"/>
              </a:defRPr>
            </a:pPr>
            <a:r>
              <a:t>Ensures performance</a:t>
            </a:r>
          </a:p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100% pure vanilla JS with sub-50ms render, zero layout shift, and instant offline LocalStorage persistence.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5303520"/>
            <a:ext cx="13716" cy="1005840"/>
          </a:xfrm>
          <a:prstGeom prst="rect">
            <a:avLst/>
          </a:prstGeom>
          <a:solidFill>
            <a:srgbClr val="DA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5285232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81818"/>
                </a:solidFill>
                <a:latin typeface="Arial"/>
              </a:defRPr>
            </a:pPr>
            <a:r>
              <a:t>Scales effortlessly</a:t>
            </a:r>
          </a:p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Modular component design (SPA router, 3-state medication engine, audio helper) ready for backend API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81818"/>
                </a:solidFill>
                <a:latin typeface="Arial"/>
              </a:defRPr>
            </a:pPr>
            <a:r>
              <a:t>THE TURING CLUB</a:t>
            </a:r>
          </a:p>
          <a:p>
            <a:pPr>
              <a:defRPr sz="1100" b="1">
                <a:solidFill>
                  <a:srgbClr val="EE522B"/>
                </a:solidFill>
                <a:latin typeface="Arial"/>
              </a:defRPr>
            </a:pPr>
            <a:r>
              <a:t>FRONTEND UI/UX COMPETITION</a:t>
            </a:r>
          </a:p>
        </p:txBody>
      </p:sp>
      <p:pic>
        <p:nvPicPr>
          <p:cNvPr id="4" name="Picture 3" descr="arch_st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0"/>
            <a:ext cx="21332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9728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81818"/>
                </a:solidFill>
                <a:latin typeface="Arial Black"/>
              </a:defRPr>
            </a:pPr>
            <a:r>
              <a:t>SYSTEM ARCHITECTURE &amp; USER FLOW</a:t>
            </a:r>
          </a:p>
          <a:p>
            <a:pPr>
              <a:defRPr sz="1300">
                <a:solidFill>
                  <a:srgbClr val="646464"/>
                </a:solidFill>
                <a:latin typeface="Arial"/>
              </a:defRPr>
            </a:pPr>
            <a:r>
              <a:t>A streamlined flow from user interaction to reliable output, designed for clarity, performance, and scalability.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214884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487168"/>
            <a:ext cx="19293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E522B"/>
                </a:solidFill>
                <a:latin typeface="Arial"/>
              </a:defRPr>
            </a:pPr>
            <a: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971800"/>
            <a:ext cx="1929384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User actions &amp; touches</a:t>
            </a:r>
          </a:p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Category filter (Senior / Child / All)</a:t>
            </a:r>
          </a:p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Dose 'Mark as Taken' toggle</a:t>
            </a:r>
          </a:p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3-Step Doctor booking form</a:t>
            </a:r>
          </a:p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Audio 'Listen' speech click</a:t>
            </a:r>
          </a:p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Dark mode &amp; font-size scaler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6936" y="4206240"/>
            <a:ext cx="137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EE522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377440"/>
            <a:ext cx="214884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2487168"/>
            <a:ext cx="19293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E522B"/>
                </a:solidFill>
                <a:latin typeface="Arial"/>
              </a:defRPr>
            </a:pPr>
            <a:r>
              <a:t>CORE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2971800"/>
            <a:ext cx="1929384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Client-side SPA route router</a:t>
            </a:r>
          </a:p>
          <a:p>
            <a:pPr>
              <a:spcBef>
                <a:spcPts val="400"/>
              </a:spcBef>
              <a:defRPr b="1" sz="1050">
                <a:solidFill>
                  <a:srgbClr val="181818"/>
                </a:solidFill>
                <a:latin typeface="Arial"/>
              </a:defRPr>
            </a:pPr>
            <a:r>
              <a:t>3-State Medication Engine:</a:t>
            </a:r>
          </a:p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  • Taken (Checked off)</a:t>
            </a:r>
          </a:p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  • Due (Scheduled today)</a:t>
            </a:r>
          </a:p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  • Missed (Overdue detection)</a:t>
            </a:r>
          </a:p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Real-time inline regex validation</a:t>
            </a:r>
          </a:p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SpeechSynthesis queue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656" y="4206240"/>
            <a:ext cx="137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EE522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2377440"/>
            <a:ext cx="214884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04688" y="2487168"/>
            <a:ext cx="19293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E522B"/>
                </a:solidFill>
                <a:latin typeface="Arial"/>
              </a:defRPr>
            </a:pPr>
            <a:r>
              <a:t>IDEAS /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2971800"/>
            <a:ext cx="1929384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b="1" sz="1050">
                <a:solidFill>
                  <a:srgbClr val="181818"/>
                </a:solidFill>
                <a:latin typeface="Arial"/>
              </a:defRPr>
            </a:pPr>
            <a:r>
              <a:t>What did we solve?</a:t>
            </a:r>
          </a:p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• Medication non-adherence &amp; confusion in seniors (55+) and kids.</a:t>
            </a:r>
          </a:p>
          <a:p>
            <a:pPr>
              <a:spcBef>
                <a:spcPts val="400"/>
              </a:spcBef>
              <a:defRPr b="1" sz="1050">
                <a:solidFill>
                  <a:srgbClr val="181818"/>
                </a:solidFill>
                <a:latin typeface="Arial"/>
              </a:defRPr>
            </a:pPr>
            <a:r>
              <a:t>How did we solve it?</a:t>
            </a:r>
          </a:p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• Plain-language explanations, audio speech, overdue alerts (no double dose).</a:t>
            </a:r>
          </a:p>
          <a:p>
            <a:pPr>
              <a:spcBef>
                <a:spcPts val="400"/>
              </a:spcBef>
              <a:defRPr b="1" sz="1050">
                <a:solidFill>
                  <a:srgbClr val="181818"/>
                </a:solidFill>
                <a:latin typeface="Arial"/>
              </a:defRPr>
            </a:pPr>
            <a:r>
              <a:t>Success Rate: 100%</a:t>
            </a:r>
          </a:p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• Zero layout shift, full WCAG 2.1 AA.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0376" y="4206240"/>
            <a:ext cx="137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EE522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80" y="2377440"/>
            <a:ext cx="214884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36408" y="2487168"/>
            <a:ext cx="19293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E522B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971800"/>
            <a:ext cx="1929384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Real-time family progress bar</a:t>
            </a:r>
          </a:p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Audible voice guidance with animated stop indicator</a:t>
            </a:r>
          </a:p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Overdue missed-dose warning box</a:t>
            </a:r>
          </a:p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Doctor booking ticket receipt</a:t>
            </a:r>
          </a:p>
          <a:p>
            <a:pPr>
              <a:spcBef>
                <a:spcPts val="200"/>
              </a:spcBef>
              <a:defRPr sz="1000">
                <a:solidFill>
                  <a:srgbClr val="646464"/>
                </a:solidFill>
                <a:latin typeface="Arial"/>
              </a:defRPr>
            </a:pPr>
            <a:r>
              <a:t>Zero eye-strain Dark Mode palette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81818"/>
                </a:solidFill>
                <a:latin typeface="Arial"/>
              </a:defRPr>
            </a:pPr>
            <a:r>
              <a:t>THE TURING CLUB</a:t>
            </a:r>
          </a:p>
          <a:p>
            <a:pPr>
              <a:defRPr sz="1100" b="1">
                <a:solidFill>
                  <a:srgbClr val="EE522B"/>
                </a:solidFill>
                <a:latin typeface="Arial"/>
              </a:defRPr>
            </a:pPr>
            <a:r>
              <a:t>FRONTEND UI/UX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41148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E522B"/>
                </a:solidFill>
                <a:latin typeface="Arial"/>
              </a:defRPr>
            </a:pPr>
            <a:r>
              <a:t>Domain: Healthcare Accessibility for Seniors (55+) &amp; Families in India</a:t>
            </a:r>
          </a:p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Why this domain? Standard medical apps overwhelm older adults with complex jargon and small text. Medibloom simplifies care with plain words, audio guides, and effortless Indian city doctor booking.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81818"/>
                </a:solidFill>
                <a:latin typeface="Arial Black"/>
              </a:defRPr>
            </a:pPr>
            <a:r>
              <a:t>KEY FEATURES</a:t>
            </a:r>
            <a:br/>
            <a:r>
              <a:t>&amp; UI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EE522B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468880"/>
            <a:ext cx="32918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81818"/>
                </a:solidFill>
                <a:latin typeface="Arial"/>
              </a:defRPr>
            </a:pPr>
            <a:r>
              <a:t>INTUITIVE NAVIGATION &amp; FILTERING</a:t>
            </a:r>
          </a:p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Segmented care for Seniors (55+) and Children with synchronized live family progress tracking, text-size adjustments, and one-click dark/light mode toggle.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73152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EE522B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840480"/>
            <a:ext cx="32918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81818"/>
                </a:solidFill>
                <a:latin typeface="Arial"/>
              </a:defRPr>
            </a:pPr>
            <a:r>
              <a:t>ACCESSIBLE AUDIO &amp; 3-STATE TRACKING</a:t>
            </a:r>
          </a:p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Browser-native Web SpeechSynthesis reads prescriptions aloud; smart 3-state engine dynamically flags overdue doses with clear clinical safety instructions (do not take double dose).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73152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EE522B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5212080"/>
            <a:ext cx="32918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81818"/>
                </a:solidFill>
                <a:latin typeface="Arial"/>
              </a:defRPr>
            </a:pPr>
            <a:r>
              <a:t>SEAMLESS 3-STEP APPOINTMENT BOOKING</a:t>
            </a:r>
          </a:p>
          <a:p>
            <a:pPr>
              <a:defRPr sz="1000">
                <a:solidFill>
                  <a:srgbClr val="646464"/>
                </a:solidFill>
                <a:latin typeface="Arial"/>
              </a:defRPr>
            </a:pPr>
            <a:r>
              <a:t>Frictionless booking wizard featuring top doctors across Indian cities (Bengaluru, Mumbai, Hyderabad, New Delhi) with real-time field validation and verified confirmation tickets.</a:t>
            </a:r>
          </a:p>
        </p:txBody>
      </p:sp>
      <p:pic>
        <p:nvPicPr>
          <p:cNvPr id="12" name="Picture 11" descr="medibloom_laptop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66751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81818"/>
                </a:solidFill>
                <a:latin typeface="Arial"/>
              </a:defRPr>
            </a:pPr>
            <a:r>
              <a:t>THE TURING CLUB</a:t>
            </a:r>
          </a:p>
          <a:p>
            <a:pPr>
              <a:defRPr sz="1100" b="1">
                <a:solidFill>
                  <a:srgbClr val="EE522B"/>
                </a:solidFill>
                <a:latin typeface="Arial"/>
              </a:defRPr>
            </a:pPr>
            <a:r>
              <a:t>FRONTEND UI/UX COMPETITION</a:t>
            </a:r>
          </a:p>
        </p:txBody>
      </p:sp>
      <p:pic>
        <p:nvPicPr>
          <p:cNvPr id="4" name="Picture 3" descr="arch_st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0"/>
            <a:ext cx="478505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280160"/>
            <a:ext cx="6400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181818"/>
                </a:solidFill>
                <a:latin typeface="Arial Black"/>
              </a:defRPr>
            </a:pPr>
            <a:r>
              <a:t>IMPACT, LINKS &amp;</a:t>
            </a:r>
          </a:p>
          <a:p>
            <a:pPr>
              <a:spcAft>
                <a:spcPts val="1000"/>
              </a:spcAft>
              <a:defRPr sz="3800" b="1">
                <a:solidFill>
                  <a:srgbClr val="EE522B"/>
                </a:solidFill>
                <a:latin typeface="Arial Black"/>
              </a:defRPr>
            </a:pPr>
            <a:r>
              <a:t>THANK YOU</a:t>
            </a:r>
          </a:p>
          <a:p>
            <a:pPr>
              <a:defRPr sz="1300">
                <a:solidFill>
                  <a:srgbClr val="646464"/>
                </a:solidFill>
                <a:latin typeface="Arial"/>
              </a:defRPr>
            </a:pPr>
            <a:r>
              <a:t>Every design decision drives clarity, speed, and accessibility — creating experiences that seniors and families trust and enjoy.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81818"/>
                </a:solidFill>
                <a:latin typeface="Arial"/>
              </a:defRPr>
            </a:pPr>
            <a:r>
              <a:t>👵 Senior-First UX: WCAG 2.1 AA contrast, calm 300ms motion transitions, and typography scaling.</a:t>
            </a:r>
          </a:p>
          <a:p>
            <a:pPr>
              <a:spcAft>
                <a:spcPts val="400"/>
              </a:spcAft>
              <a:defRPr sz="1100">
                <a:solidFill>
                  <a:srgbClr val="181818"/>
                </a:solidFill>
                <a:latin typeface="Arial"/>
              </a:defRPr>
            </a:pPr>
            <a:r>
              <a:t>🛡️ Clinical Safety: Overdue dose indicators prevent accidental double-dosing with safe guidance.</a:t>
            </a:r>
          </a:p>
          <a:p>
            <a:pPr>
              <a:spcAft>
                <a:spcPts val="400"/>
              </a:spcAft>
              <a:defRPr sz="1100">
                <a:solidFill>
                  <a:srgbClr val="181818"/>
                </a:solidFill>
                <a:latin typeface="Arial"/>
              </a:defRPr>
            </a:pPr>
            <a:r>
              <a:t>⚡ Zero-Dependency Lightweight Speed: Instant sub-50ms render on any Indian mobile connection.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480560"/>
            <a:ext cx="6400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E522B"/>
                </a:solidFill>
                <a:latin typeface="Arial"/>
              </a:defRPr>
            </a:pPr>
            <a:r>
              <a:t>GITHUB REPOSITORY URL</a:t>
            </a:r>
          </a:p>
          <a:p>
            <a:pPr>
              <a:defRPr sz="1400" b="1">
                <a:solidFill>
                  <a:srgbClr val="181818"/>
                </a:solidFill>
                <a:latin typeface="Arial"/>
              </a:defRPr>
            </a:pPr>
            <a:r>
              <a:t>https://github.com/SHARK-025/Medibloom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486400"/>
            <a:ext cx="6400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6035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E522B"/>
                </a:solidFill>
                <a:latin typeface="Arial"/>
              </a:defRPr>
            </a:pPr>
            <a:r>
              <a:t>LIVE DEMO URL (VERCEL)</a:t>
            </a:r>
          </a:p>
          <a:p>
            <a:pPr>
              <a:defRPr sz="1400" b="1">
                <a:solidFill>
                  <a:srgbClr val="181818"/>
                </a:solidFill>
                <a:latin typeface="Arial"/>
              </a:defRPr>
            </a:pPr>
            <a:r>
              <a:t>https://medibloom.vercel.app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